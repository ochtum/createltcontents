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598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524000"/>
            <a:ext cx="800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21"/>
              </a:lnSpc>
              <a:buNone/>
            </a:pPr>
            <a:r>
              <a:rPr lang="en-US" sz="2565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AI活用のコスパを最大化する方法</a:t>
            </a:r>
            <a:endParaRPr lang="en-US" sz="2565" dirty="0"/>
          </a:p>
        </p:txBody>
      </p:sp>
      <p:sp>
        <p:nvSpPr>
          <p:cNvPr id="3" name="Text 1"/>
          <p:cNvSpPr/>
          <p:nvPr/>
        </p:nvSpPr>
        <p:spPr>
          <a:xfrm>
            <a:off x="952500" y="2190750"/>
            <a:ext cx="723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96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トークン制約時代の依頼設計・CLI運用・共有資産化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1143000" y="2952750"/>
            <a:ext cx="6858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11"/>
              </a:lnSpc>
              <a:buNone/>
            </a:pPr>
            <a:r>
              <a:rPr lang="en-US" sz="855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再試行を減らす設計が、生産性とコストを同時に改善する</a:t>
            </a:r>
            <a:endParaRPr lang="en-US" sz="8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6675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209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本記事のターゲット層</a:t>
            </a:r>
            <a:endParaRPr lang="en-US" sz="2209" dirty="0"/>
          </a:p>
        </p:txBody>
      </p:sp>
      <p:sp>
        <p:nvSpPr>
          <p:cNvPr id="3" name="Text 1"/>
          <p:cNvSpPr/>
          <p:nvPr/>
        </p:nvSpPr>
        <p:spPr>
          <a:xfrm>
            <a:off x="619125" y="1476375"/>
            <a:ext cx="7905750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52"/>
              </a:lnSpc>
              <a:buNone/>
            </a:pPr>
            <a:r>
              <a:rPr lang="en-US" sz="121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業務で生成AIを使い始めたエンジニア</a:t>
            </a:r>
            <a:endParaRPr lang="en-US" sz="1211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21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AI利用コスト（トークン/回数）を最適化したい開発者</a:t>
            </a:r>
            <a:endParaRPr lang="en-US" sz="1211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21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チームでAI活用ルールを整備したいテックリード</a:t>
            </a:r>
            <a:endParaRPr lang="en-US" sz="1211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21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GUI中心からCLI中心に移行したい実務担当者</a:t>
            </a:r>
            <a:endParaRPr lang="en-US" sz="1211" dirty="0"/>
          </a:p>
          <a:p>
            <a:pPr marL="0" indent="0" algn="l">
              <a:lnSpc>
                <a:spcPts val="1852"/>
              </a:lnSpc>
              <a:buNone/>
            </a:pPr>
            <a:r>
              <a:rPr lang="en-US" sz="121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カスタムプロンプトやスキルを組織展開したい人</a:t>
            </a:r>
            <a:endParaRPr lang="en-US" sz="121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なぜコスパ設計が生産性を左右するのか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生成AIは無限に使える道具ではない（トークン/回数制約）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曖昧な依頼は追加指示・修正往復を増やす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本質は『たくさん質問する』より『再試行を減らす』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目的・前提・制約・期待出力を先に定義すると成功率が上がる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属人芸から再現可能な実務プロセスへ変えられる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852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1-1 / 1-2 コスト評価と失敗パターン</a:t>
            </a:r>
            <a:endParaRPr lang="en-US" sz="1852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3857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211" b="1" dirty="0">
                <a:solidFill>
                  <a:srgbClr val="2E7D3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総コストで見る</a:t>
            </a:r>
            <a:endParaRPr lang="en-US" sz="1211" dirty="0"/>
          </a:p>
        </p:txBody>
      </p:sp>
      <p:sp>
        <p:nvSpPr>
          <p:cNvPr id="4" name="Text 2"/>
          <p:cNvSpPr/>
          <p:nvPr/>
        </p:nvSpPr>
        <p:spPr>
          <a:xfrm>
            <a:off x="571500" y="1476375"/>
            <a:ext cx="3857625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要件整理にかかった時間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出力の再修正回数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チーム内レビュー手戻り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セキュリティ確認工数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単価より完了までの時間を重視</a:t>
            </a:r>
            <a:endParaRPr lang="en-US" sz="962" dirty="0"/>
          </a:p>
        </p:txBody>
      </p:sp>
      <p:sp>
        <p:nvSpPr>
          <p:cNvPr id="5" name="Text 3"/>
          <p:cNvSpPr/>
          <p:nvPr/>
        </p:nvSpPr>
        <p:spPr>
          <a:xfrm>
            <a:off x="4714875" y="1190625"/>
            <a:ext cx="3857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211" b="1" dirty="0">
                <a:solidFill>
                  <a:srgbClr val="2E7D3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避けるべき失敗</a:t>
            </a:r>
            <a:endParaRPr lang="en-US" sz="1211" dirty="0"/>
          </a:p>
        </p:txBody>
      </p:sp>
      <p:sp>
        <p:nvSpPr>
          <p:cNvPr id="6" name="Text 4"/>
          <p:cNvSpPr/>
          <p:nvPr/>
        </p:nvSpPr>
        <p:spPr>
          <a:xfrm>
            <a:off x="4714875" y="1476375"/>
            <a:ext cx="3857625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要件が1文だけ（例: いい感じに直して）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制約未記載（文字数/対象読者/形式/禁止事項）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大きすぎる依頼を一括投入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調査・設計・実装・検証の同時要求</a:t>
            </a:r>
            <a:endParaRPr lang="en-US" sz="96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伝わる依頼文の作り方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文章力より設計力が重要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Markdownで見出しと箇条書きを固定する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自由記述より構造化要件のほうが推論ミスが減る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依頼の再現性が上がり、品質が安定する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852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2-1 最低限の依頼テンプレート</a:t>
            </a:r>
            <a:endParaRPr lang="en-US" sz="1852" dirty="0"/>
          </a:p>
        </p:txBody>
      </p:sp>
      <p:sp>
        <p:nvSpPr>
          <p:cNvPr id="3" name="Shape 1"/>
          <p:cNvSpPr/>
          <p:nvPr/>
        </p:nvSpPr>
        <p:spPr>
          <a:xfrm>
            <a:off x="571500" y="1238250"/>
            <a:ext cx="8001000" cy="3429000"/>
          </a:xfrm>
          <a:prstGeom prst="roundRect">
            <a:avLst/>
          </a:prstGeom>
          <a:solidFill>
            <a:srgbClr val="0F172A"/>
          </a:solidFill>
          <a:ln w="9049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3425" y="1428750"/>
            <a:ext cx="767715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目的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何を達成したいか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前提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現在の状況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使用環境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制約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使ってよい技術／禁止事項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納期・優先順位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期待する出力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形式（Markdown / JSON / コード）</a:t>
            </a:r>
            <a:endParaRPr lang="en-US" sz="855" dirty="0"/>
          </a:p>
          <a:p>
            <a:pPr marL="0" indent="0" algn="l">
              <a:lnSpc>
                <a:spcPts val="1211"/>
              </a:lnSpc>
              <a:buNone/>
            </a:pPr>
            <a:r>
              <a:rPr lang="en-US" sz="855" dirty="0">
                <a:solidFill>
                  <a:srgbClr val="F8FAFC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 完了条件</a:t>
            </a:r>
            <a:endParaRPr lang="en-US" sz="85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852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2-2 複雑依頼は4フェーズ分割</a:t>
            </a:r>
            <a:endParaRPr lang="en-US" sz="1852" dirty="0"/>
          </a:p>
        </p:txBody>
      </p:sp>
      <p:sp>
        <p:nvSpPr>
          <p:cNvPr id="3" name="Text 1"/>
          <p:cNvSpPr/>
          <p:nvPr/>
        </p:nvSpPr>
        <p:spPr>
          <a:xfrm>
            <a:off x="619125" y="1285875"/>
            <a:ext cx="790575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81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調査: 既存情報整理・用語定義・前提確認</a:t>
            </a:r>
            <a:endParaRPr lang="en-US" sz="1140" dirty="0"/>
          </a:p>
          <a:p>
            <a:pPr marL="0" indent="0" algn="l">
              <a:lnSpc>
                <a:spcPts val="1781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設計: 構成案・採用方針・非採用理由</a:t>
            </a:r>
            <a:endParaRPr lang="en-US" sz="1140" dirty="0"/>
          </a:p>
          <a:p>
            <a:pPr marL="0" indent="0" algn="l">
              <a:lnSpc>
                <a:spcPts val="1781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実装: コードまたは本文生成</a:t>
            </a:r>
            <a:endParaRPr lang="en-US" sz="1140" dirty="0"/>
          </a:p>
          <a:p>
            <a:pPr marL="0" indent="0" algn="l">
              <a:lnSpc>
                <a:spcPts val="1781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レビュー: バグ・抜け漏れ・文体統一・要件充足確認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言語の使い分け + Tips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英語情報が強い領域は英語指示が有効な場合がある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ただし最終成果物の言語は明示する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例: 調査は英語参照可 / 最終出力は日本語 / 初心者向け補足を入れる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チェック: 誰向けか、完了条件、出力形式、禁止事項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GUIよりCLIを選ぶべき理由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主軸をAI系CLIに置くと実務効率が上がる場面が多い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パフォーマンスがよい場合が多い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成果品質がよいことが多い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トークン数が少ない場合がある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裏で動かせるためマルチタスク化しやすい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9"/>
              </a:lnSpc>
              <a:buNone/>
            </a:pPr>
            <a:r>
              <a:rPr lang="en-US" sz="1852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チームで効くAI共有資産設計</a:t>
            </a:r>
            <a:endParaRPr lang="en-US" sz="1852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3857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211" b="1" dirty="0">
                <a:solidFill>
                  <a:srgbClr val="2E7D3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共有すべき資産</a:t>
            </a:r>
            <a:endParaRPr lang="en-US" sz="1211" dirty="0"/>
          </a:p>
        </p:txBody>
      </p:sp>
      <p:sp>
        <p:nvSpPr>
          <p:cNvPr id="4" name="Text 2"/>
          <p:cNvSpPr/>
          <p:nvPr/>
        </p:nvSpPr>
        <p:spPr>
          <a:xfrm>
            <a:off x="571500" y="1476375"/>
            <a:ext cx="3857625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依頼テンプレート（Markdown）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よく使う検証手順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レビュー観点チェックリスト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カスタムプロンプト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スキル定義/カスタムエージェント設定</a:t>
            </a:r>
            <a:endParaRPr lang="en-US" sz="962" dirty="0"/>
          </a:p>
        </p:txBody>
      </p:sp>
      <p:sp>
        <p:nvSpPr>
          <p:cNvPr id="5" name="Text 3"/>
          <p:cNvSpPr/>
          <p:nvPr/>
        </p:nvSpPr>
        <p:spPr>
          <a:xfrm>
            <a:off x="4714875" y="1190625"/>
            <a:ext cx="3857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211" b="1" dirty="0">
                <a:solidFill>
                  <a:srgbClr val="2E7D3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運用の分離</a:t>
            </a:r>
            <a:endParaRPr lang="en-US" sz="1211" dirty="0"/>
          </a:p>
        </p:txBody>
      </p:sp>
      <p:sp>
        <p:nvSpPr>
          <p:cNvPr id="6" name="Text 4"/>
          <p:cNvSpPr/>
          <p:nvPr/>
        </p:nvSpPr>
        <p:spPr>
          <a:xfrm>
            <a:off x="4714875" y="1476375"/>
            <a:ext cx="385762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共通: 目的・前提・制約・完了条件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製品依存: ツール呼び出し・出力制約・コンテキスト管理</a:t>
            </a:r>
            <a:endParaRPr lang="en-US" sz="962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962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共通部分を先に標準化して移植コストを下げる</a:t>
            </a:r>
            <a:endParaRPr lang="en-US" sz="96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4-3 セキュリティ前提 + 形骸化対策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個人情報・顧客情報・機密情報は入力しない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必要時はマスキングして投入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ログ保存範囲と公開範囲を事前確認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社内ガイドラインに沿って運用を明文化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形骸化対策: 最小セットで開始 / 月1回15分メンテ / 変更履歴を残す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23875"/>
            <a:ext cx="800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24" b="1" dirty="0">
                <a:solidFill>
                  <a:srgbClr val="1A5E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まとめ: まず着手すべき最小セット</a:t>
            </a:r>
            <a:endParaRPr lang="en-US" sz="1924" dirty="0"/>
          </a:p>
        </p:txBody>
      </p:sp>
      <p:sp>
        <p:nvSpPr>
          <p:cNvPr id="3" name="Text 1"/>
          <p:cNvSpPr/>
          <p:nvPr/>
        </p:nvSpPr>
        <p:spPr>
          <a:xfrm>
            <a:off x="619125" y="1381125"/>
            <a:ext cx="790575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依頼テンプレートを1枚作る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複雑依頼を4フェーズに分割する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CLIで実行履歴を残す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効果測定: やり取り回数・所要時間・差し戻し件数</a:t>
            </a:r>
            <a:endParaRPr lang="en-US" sz="1140" dirty="0"/>
          </a:p>
          <a:p>
            <a:pPr marL="0" indent="0" algn="l">
              <a:lnSpc>
                <a:spcPts val="1710"/>
              </a:lnSpc>
              <a:buNone/>
            </a:pPr>
            <a:r>
              <a:rPr lang="en-US" sz="1140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ツール選びより運用設計の差が成果を決める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571500" y="4000500"/>
            <a:ext cx="8001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1"/>
              </a:lnSpc>
              <a:buNone/>
            </a:pPr>
            <a:r>
              <a:rPr lang="en-US" sz="855" b="1" dirty="0">
                <a:solidFill>
                  <a:srgbClr val="2E7D3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571500" y="416718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64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https://qiita.com/masakinihirota/items/c5823fab7a82eeffbafe</a:t>
            </a:r>
            <a:endParaRPr lang="en-US" sz="641" dirty="0"/>
          </a:p>
          <a:p>
            <a:pPr marL="0" indent="0" algn="l">
              <a:lnSpc>
                <a:spcPts val="998"/>
              </a:lnSpc>
              <a:buNone/>
            </a:pPr>
            <a:r>
              <a:rPr lang="en-US" sz="64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https://developers.openai.com/codex/cli/</a:t>
            </a:r>
            <a:endParaRPr lang="en-US" sz="641" dirty="0"/>
          </a:p>
          <a:p>
            <a:pPr marL="0" indent="0" algn="l">
              <a:lnSpc>
                <a:spcPts val="998"/>
              </a:lnSpc>
              <a:buNone/>
            </a:pPr>
            <a:r>
              <a:rPr lang="en-US" sz="641" dirty="0">
                <a:solidFill>
                  <a:srgbClr val="1A1A1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https://cli.github.com/manual/</a:t>
            </a:r>
            <a:endParaRPr lang="en-US" sz="64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画面に合わせる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Inter</vt:lpstr>
      <vt:lpstr>Arial</vt:lpstr>
      <vt:lpstr>Roboto Mono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武田 淳一(ecbeing)</cp:lastModifiedBy>
  <cp:revision>2</cp:revision>
  <dcterms:created xsi:type="dcterms:W3CDTF">2026-02-19T08:18:17Z</dcterms:created>
  <dcterms:modified xsi:type="dcterms:W3CDTF">2026-02-19T08:18:47Z</dcterms:modified>
</cp:coreProperties>
</file>